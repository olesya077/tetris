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66" r:id="rId3"/>
    <p:sldId id="258" r:id="rId4"/>
    <p:sldId id="267" r:id="rId5"/>
    <p:sldId id="260" r:id="rId6"/>
    <p:sldId id="259" r:id="rId7"/>
    <p:sldId id="262" r:id="rId8"/>
    <p:sldId id="261" r:id="rId9"/>
    <p:sldId id="265" r:id="rId10"/>
    <p:sldId id="264" r:id="rId11"/>
    <p:sldId id="263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>
        <p:scale>
          <a:sx n="75" d="100"/>
          <a:sy n="75" d="100"/>
        </p:scale>
        <p:origin x="974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820D4-1EA4-4007-AC88-F07C1B276B64}" type="datetimeFigureOut">
              <a:rPr lang="ru-RU" smtClean="0"/>
              <a:t>21.12.2025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6D3BC2-A342-4D37-8FA7-E00DE57ABD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2740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754C3-3D99-4538-AB04-4E9C48478B87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384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23A329-05B6-46AE-A3D7-DA9D4A722CD0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8370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D4288-B219-4C0B-9308-5ACB15AFFAC3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1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0B3478-5D11-4A39-9753-4FC6971ADB00}" type="datetime1">
              <a:rPr lang="ru-RU" smtClean="0"/>
              <a:t>21.12.2025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5886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68121-8F1C-4971-9DBB-A1AED8D41F7F}" type="datetime1">
              <a:rPr lang="ru-RU" smtClean="0"/>
              <a:t>21.12.2025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254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FB19D-FDBF-4400-B6E4-720236149DDB}" type="datetime1">
              <a:rPr lang="ru-RU" smtClean="0"/>
              <a:t>21.12.2025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544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50904-10C2-49BA-BC18-01A7B3AE37CB}" type="datetime1">
              <a:rPr lang="ru-RU" smtClean="0"/>
              <a:t>21.12.2025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18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81350-9B67-4CFC-A810-F58C46D4C57B}" type="datetime1">
              <a:rPr lang="ru-RU" smtClean="0"/>
              <a:t>21.12.2025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157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86DCF-DF20-461C-B6C8-ED37E946B6E7}" type="datetime1">
              <a:rPr lang="ru-RU" smtClean="0"/>
              <a:t>21.12.2025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69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CB35D-BA64-4631-84A0-61FC375C1545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1529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6327A-FD98-425B-8C1D-E2BCFCAF86E8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8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4000"/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523378-2FC3-472B-9319-665C9B6DF30A}" type="datetime1">
              <a:rPr lang="ru-RU" smtClean="0"/>
              <a:t>21.12.2025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5849E-5F80-4C7B-BCEF-68E89AE4269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3673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52E7BFF-2FE8-4379-BB3D-5AC656ADF1D8}"/>
              </a:ext>
            </a:extLst>
          </p:cNvPr>
          <p:cNvSpPr txBox="1"/>
          <p:nvPr/>
        </p:nvSpPr>
        <p:spPr>
          <a:xfrm>
            <a:off x="197222" y="710933"/>
            <a:ext cx="1220993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Разработка объектно-ориентированной программы реализации игры "Тетрис" на языке C++</a:t>
            </a:r>
            <a:endParaRPr lang="ru-RU" sz="4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8EDFB9-E65E-483C-8FF1-6BF43F1EB675}"/>
              </a:ext>
            </a:extLst>
          </p:cNvPr>
          <p:cNvSpPr txBox="1"/>
          <p:nvPr/>
        </p:nvSpPr>
        <p:spPr>
          <a:xfrm>
            <a:off x="8023412" y="5316070"/>
            <a:ext cx="41685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Выполнила Салюкина О.А.</a:t>
            </a:r>
          </a:p>
          <a:p>
            <a:r>
              <a:rPr lang="ru-RU" sz="2400" b="1" dirty="0"/>
              <a:t>Под руководством Козова А.В</a:t>
            </a:r>
          </a:p>
        </p:txBody>
      </p:sp>
    </p:spTree>
    <p:extLst>
      <p:ext uri="{BB962C8B-B14F-4D97-AF65-F5344CB8AC3E}">
        <p14:creationId xmlns:p14="http://schemas.microsoft.com/office/powerpoint/2010/main" val="2376700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5851B1-BC52-44F1-B2B0-28947C6BA481}"/>
              </a:ext>
            </a:extLst>
          </p:cNvPr>
          <p:cNvSpPr txBox="1"/>
          <p:nvPr/>
        </p:nvSpPr>
        <p:spPr>
          <a:xfrm>
            <a:off x="5056093" y="215153"/>
            <a:ext cx="22680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Задача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1EF2C-420C-4D96-B6AD-5937AB87A118}"/>
              </a:ext>
            </a:extLst>
          </p:cNvPr>
          <p:cNvSpPr txBox="1"/>
          <p:nvPr/>
        </p:nvSpPr>
        <p:spPr>
          <a:xfrm>
            <a:off x="277905" y="1272988"/>
            <a:ext cx="43550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объектно-ориентированную программу реализации игры "Тетрис" на языке C++, интерфейс которой должен обеспечивать выбор формы игрового поля перед началом игры, включая стандартную форму десять на двадцать клеток и расширяющееся поле, а также отображение текущего счета, уровня и доступных бонусов с визуализацией текущей фигуры. Кроме того, необходимо реализовать режим “пазла”, который подразумевает закрашивание определенной картинки падающими фигурами</a:t>
            </a:r>
            <a:endParaRPr lang="ru-RU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14BB46-C212-4314-8EC7-3804B9081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272988"/>
            <a:ext cx="5140960" cy="467869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2B11EA-5661-40D3-8057-3410D6A68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9706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3FEA1-37D3-45E4-9B39-D15C05EBEE09}"/>
              </a:ext>
            </a:extLst>
          </p:cNvPr>
          <p:cNvSpPr txBox="1"/>
          <p:nvPr/>
        </p:nvSpPr>
        <p:spPr>
          <a:xfrm>
            <a:off x="3361764" y="95459"/>
            <a:ext cx="54684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400" b="1" dirty="0"/>
              <a:t>Ключевые моменты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7D5E8B-4744-4A20-BBB5-7A99438165DA}"/>
              </a:ext>
            </a:extLst>
          </p:cNvPr>
          <p:cNvSpPr txBox="1"/>
          <p:nvPr/>
        </p:nvSpPr>
        <p:spPr>
          <a:xfrm>
            <a:off x="4842136" y="822939"/>
            <a:ext cx="23308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Принцип </a:t>
            </a:r>
            <a:r>
              <a:rPr lang="en-US" sz="2400" dirty="0"/>
              <a:t>MVC</a:t>
            </a:r>
            <a:endParaRPr lang="ru-RU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9B5C13D-8EC3-4FAB-905C-CBEDDF14B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4381" y="1889580"/>
            <a:ext cx="6236418" cy="41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0FFAF5-5090-4C3C-98D5-41CBDD007914}"/>
              </a:ext>
            </a:extLst>
          </p:cNvPr>
          <p:cNvSpPr txBox="1"/>
          <p:nvPr/>
        </p:nvSpPr>
        <p:spPr>
          <a:xfrm>
            <a:off x="1332749" y="5206584"/>
            <a:ext cx="2029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CONTROLLER</a:t>
            </a:r>
            <a:endParaRPr lang="ru-RU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B12EA-7022-416E-A7E6-BE25C4A0BA22}"/>
              </a:ext>
            </a:extLst>
          </p:cNvPr>
          <p:cNvSpPr txBox="1"/>
          <p:nvPr/>
        </p:nvSpPr>
        <p:spPr>
          <a:xfrm>
            <a:off x="293042" y="2230456"/>
            <a:ext cx="12160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Figure</a:t>
            </a:r>
            <a:endParaRPr lang="ru-RU" sz="28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2D4B44-2BC5-4E3E-B87E-5E3625D4343F}"/>
              </a:ext>
            </a:extLst>
          </p:cNvPr>
          <p:cNvSpPr txBox="1"/>
          <p:nvPr/>
        </p:nvSpPr>
        <p:spPr>
          <a:xfrm>
            <a:off x="1496246" y="2547878"/>
            <a:ext cx="1230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Field</a:t>
            </a:r>
            <a:endParaRPr lang="ru-RU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F7A41A-1D50-4341-94F8-0206C76ED901}"/>
              </a:ext>
            </a:extLst>
          </p:cNvPr>
          <p:cNvSpPr txBox="1"/>
          <p:nvPr/>
        </p:nvSpPr>
        <p:spPr>
          <a:xfrm>
            <a:off x="2856410" y="2426011"/>
            <a:ext cx="1646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tx1">
                    <a:lumMod val="20000"/>
                    <a:lumOff val="80000"/>
                  </a:schemeClr>
                </a:solidFill>
              </a:rPr>
              <a:t>Score</a:t>
            </a:r>
            <a:endParaRPr lang="ru-RU" sz="2000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FEA37-4BC3-4A7E-A8A2-707B3EC80A23}"/>
              </a:ext>
            </a:extLst>
          </p:cNvPr>
          <p:cNvSpPr txBox="1"/>
          <p:nvPr/>
        </p:nvSpPr>
        <p:spPr>
          <a:xfrm>
            <a:off x="3550145" y="3349699"/>
            <a:ext cx="1464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VIEW</a:t>
            </a:r>
            <a:endParaRPr lang="ru-RU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C1C18D-9539-4069-9D85-B6992E6ED399}"/>
              </a:ext>
            </a:extLst>
          </p:cNvPr>
          <p:cNvSpPr txBox="1"/>
          <p:nvPr/>
        </p:nvSpPr>
        <p:spPr>
          <a:xfrm>
            <a:off x="1475972" y="1225782"/>
            <a:ext cx="1435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tx1">
                    <a:lumMod val="20000"/>
                    <a:lumOff val="80000"/>
                  </a:schemeClr>
                </a:solidFill>
              </a:rPr>
              <a:t>MODEL</a:t>
            </a:r>
            <a:endParaRPr lang="ru-RU" sz="2000" b="1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463B1-D786-4537-B5BB-EEE38CE14C32}"/>
              </a:ext>
            </a:extLst>
          </p:cNvPr>
          <p:cNvSpPr txBox="1"/>
          <p:nvPr/>
        </p:nvSpPr>
        <p:spPr>
          <a:xfrm>
            <a:off x="2535637" y="4148897"/>
            <a:ext cx="2029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ConsoleView</a:t>
            </a:r>
            <a:endParaRPr lang="ru-RU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21919-12F1-4705-8433-36A4F7B2F04A}"/>
              </a:ext>
            </a:extLst>
          </p:cNvPr>
          <p:cNvSpPr txBox="1"/>
          <p:nvPr/>
        </p:nvSpPr>
        <p:spPr>
          <a:xfrm>
            <a:off x="344957" y="6005782"/>
            <a:ext cx="25046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tx1">
                    <a:lumMod val="20000"/>
                    <a:lumOff val="80000"/>
                  </a:schemeClr>
                </a:solidFill>
              </a:rPr>
              <a:t>GameConroller</a:t>
            </a:r>
            <a:endParaRPr lang="ru-RU" dirty="0">
              <a:solidFill>
                <a:schemeClr val="tx1">
                  <a:lumMod val="20000"/>
                  <a:lumOff val="80000"/>
                </a:schemeClr>
              </a:solidFill>
            </a:endParaRPr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76833CD3-F9B2-4722-B1FA-8F5C98CE94F2}"/>
              </a:ext>
            </a:extLst>
          </p:cNvPr>
          <p:cNvCxnSpPr>
            <a:cxnSpLocks/>
            <a:stCxn id="10" idx="1"/>
          </p:cNvCxnSpPr>
          <p:nvPr/>
        </p:nvCxnSpPr>
        <p:spPr>
          <a:xfrm rot="10800000" flipV="1">
            <a:off x="867964" y="1487392"/>
            <a:ext cx="608009" cy="74306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81C8A079-FA8E-4F07-A788-A266D6A99906}"/>
              </a:ext>
            </a:extLst>
          </p:cNvPr>
          <p:cNvCxnSpPr>
            <a:cxnSpLocks/>
            <a:stCxn id="10" idx="2"/>
            <a:endCxn id="7" idx="0"/>
          </p:cNvCxnSpPr>
          <p:nvPr/>
        </p:nvCxnSpPr>
        <p:spPr>
          <a:xfrm rot="5400000">
            <a:off x="1753191" y="2107335"/>
            <a:ext cx="798876" cy="8221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2265D48A-8555-4A8D-83DF-305D1CF8FCF0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2911496" y="1487392"/>
            <a:ext cx="638649" cy="9474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7038B5AB-3C0D-4DBB-B6D7-BD6E31CF0ED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3747438" y="3614071"/>
            <a:ext cx="337533" cy="73211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Curved 42">
            <a:extLst>
              <a:ext uri="{FF2B5EF4-FFF2-40B4-BE49-F238E27FC236}">
                <a16:creationId xmlns:a16="http://schemas.microsoft.com/office/drawing/2014/main" id="{0C736C05-88EB-4779-BAE0-A27F1F66B96D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1597270" y="5567466"/>
            <a:ext cx="819303" cy="43831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7541054E-6E20-4961-9352-1B4C22035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11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3C296B-8D67-4A78-9C01-738DC7618FD9}"/>
              </a:ext>
            </a:extLst>
          </p:cNvPr>
          <p:cNvSpPr txBox="1"/>
          <p:nvPr/>
        </p:nvSpPr>
        <p:spPr>
          <a:xfrm>
            <a:off x="385482" y="1255059"/>
            <a:ext cx="6848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иерархи</a:t>
            </a:r>
            <a:r>
              <a:rPr lang="ru-RU" sz="24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я</a:t>
            </a: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классов для различных типов фигур </a:t>
            </a:r>
            <a:endParaRPr lang="ru-RU" sz="2400" b="1" dirty="0"/>
          </a:p>
        </p:txBody>
      </p:sp>
      <p:pic>
        <p:nvPicPr>
          <p:cNvPr id="4" name="Picture 2" descr="Inheritance graph">
            <a:extLst>
              <a:ext uri="{FF2B5EF4-FFF2-40B4-BE49-F238E27FC236}">
                <a16:creationId xmlns:a16="http://schemas.microsoft.com/office/drawing/2014/main" id="{31672EDF-31D6-491A-964E-C0BC57637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1689" y="1485891"/>
            <a:ext cx="7210425" cy="503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A34B41-3CE4-458E-BCCB-178940116AAF}"/>
              </a:ext>
            </a:extLst>
          </p:cNvPr>
          <p:cNvSpPr txBox="1"/>
          <p:nvPr/>
        </p:nvSpPr>
        <p:spPr>
          <a:xfrm>
            <a:off x="385482" y="1835987"/>
            <a:ext cx="67265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виртуальные методы для поворота, бросания и управления состоянием фигуры</a:t>
            </a:r>
            <a:endParaRPr lang="ru-RU" sz="24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AB8D-7DD5-405F-8F14-D9AE70C05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5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63669-53FA-4293-9BB9-D2D9E84796ED}"/>
              </a:ext>
            </a:extLst>
          </p:cNvPr>
          <p:cNvSpPr txBox="1"/>
          <p:nvPr/>
        </p:nvSpPr>
        <p:spPr>
          <a:xfrm>
            <a:off x="672353" y="1837765"/>
            <a:ext cx="38881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Отображение каждого элемента фигуры описывается отдельно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3AB036E-6EA6-472C-8E4B-FC0B801EF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392" y="1645913"/>
            <a:ext cx="3888161" cy="433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C00579-F144-4F59-B8D9-EE9F82C2D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21454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22CB81-4E4F-4F27-9095-8F1914E7A772}"/>
              </a:ext>
            </a:extLst>
          </p:cNvPr>
          <p:cNvSpPr txBox="1"/>
          <p:nvPr/>
        </p:nvSpPr>
        <p:spPr>
          <a:xfrm>
            <a:off x="2325146" y="932329"/>
            <a:ext cx="78551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/>
              <a:t>Игровой процесс должен включать в себя: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68D44B-659A-422D-A99B-96684B45570B}"/>
              </a:ext>
            </a:extLst>
          </p:cNvPr>
          <p:cNvSpPr txBox="1"/>
          <p:nvPr/>
        </p:nvSpPr>
        <p:spPr>
          <a:xfrm>
            <a:off x="600635" y="2070847"/>
            <a:ext cx="669663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Движение фигуры влево и вправо, поворот на девяносто градусов и ускоренное падение</a:t>
            </a:r>
          </a:p>
          <a:p>
            <a:endParaRPr lang="ru-RU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</a:t>
            </a:r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даление заполненных строк, спуск фигур вниз после удаления строки и завершение игры после заполнения верхней строки</a:t>
            </a:r>
          </a:p>
          <a:p>
            <a:endParaRPr lang="ru-RU" sz="20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</a:t>
            </a:r>
            <a:r>
              <a:rPr lang="ru-RU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ачисление очков</a:t>
            </a:r>
            <a:endParaRPr lang="ru-RU" sz="2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A75F7-ACA2-4315-982B-DB48B689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519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1FACA3-B53A-478D-8545-C1546A45D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38" y="2497306"/>
            <a:ext cx="5542319" cy="28601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B62D74D-0348-4A22-87C6-09DB56D11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247" y="2497306"/>
            <a:ext cx="5819775" cy="29051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FD9818-C2C1-42F8-A70F-C5EDA94CF56E}"/>
              </a:ext>
            </a:extLst>
          </p:cNvPr>
          <p:cNvSpPr txBox="1"/>
          <p:nvPr/>
        </p:nvSpPr>
        <p:spPr>
          <a:xfrm>
            <a:off x="2629647" y="1008529"/>
            <a:ext cx="7557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 Black" panose="020B0A04020102020204" pitchFamily="34" charset="0"/>
              </a:rPr>
              <a:t>Возможность изменить клавиши управления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1D5E1-9726-4245-8E8A-E32CA8CA8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490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2F2B3E-6EF9-4BFA-9A13-3BBAB45F3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15" y="1372560"/>
            <a:ext cx="3263152" cy="296973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9EA112-6EA4-4E34-948F-90E5A33F1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424" y="3256626"/>
            <a:ext cx="3481870" cy="314506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A4F5B4-767B-4C9A-802E-2D0554C5BD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3451" y="1685705"/>
            <a:ext cx="3870434" cy="3486590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0E0B12-1089-48EA-AA94-7201123B243C}"/>
              </a:ext>
            </a:extLst>
          </p:cNvPr>
          <p:cNvSpPr txBox="1"/>
          <p:nvPr/>
        </p:nvSpPr>
        <p:spPr>
          <a:xfrm>
            <a:off x="4395531" y="1775011"/>
            <a:ext cx="3263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3 </a:t>
            </a:r>
            <a:r>
              <a:rPr lang="ru-RU" sz="3200" dirty="0"/>
              <a:t>режима игры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19DEDF8-6D9A-49D0-BB64-860E7A5CA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68140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082542-A4B9-4C4E-A416-C6E8DFA7BDDA}"/>
              </a:ext>
            </a:extLst>
          </p:cNvPr>
          <p:cNvSpPr txBox="1"/>
          <p:nvPr/>
        </p:nvSpPr>
        <p:spPr>
          <a:xfrm>
            <a:off x="489473" y="974165"/>
            <a:ext cx="42552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>
                <a:latin typeface="YS Text"/>
              </a:rPr>
              <a:t>Сохранение рекордов в таблице</a:t>
            </a:r>
            <a:endParaRPr lang="ru-RU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F7A62-5CC0-4590-ADA6-CDB215605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0472" y="2097102"/>
            <a:ext cx="4886008" cy="385264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7C33CE-B1E7-4835-8D3C-BE84CC20E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109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AD8897-DB03-494E-81F1-4B4B280AD38A}"/>
              </a:ext>
            </a:extLst>
          </p:cNvPr>
          <p:cNvSpPr txBox="1"/>
          <p:nvPr/>
        </p:nvSpPr>
        <p:spPr>
          <a:xfrm>
            <a:off x="560593" y="527125"/>
            <a:ext cx="79534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effectLst/>
                <a:latin typeface="YS Text"/>
              </a:rPr>
              <a:t>Возможность задать</a:t>
            </a:r>
            <a:r>
              <a:rPr lang="ru-RU" sz="2400" b="0" i="0" dirty="0">
                <a:effectLst/>
                <a:latin typeface="YS Text"/>
              </a:rPr>
              <a:t> </a:t>
            </a:r>
            <a:r>
              <a:rPr lang="ru-RU" sz="2400" b="1" i="0" dirty="0">
                <a:effectLst/>
                <a:latin typeface="YS Text"/>
              </a:rPr>
              <a:t>начальное число, с которого начинается генерация случайных чисел</a:t>
            </a:r>
            <a:r>
              <a:rPr lang="ru-RU" sz="2400" b="0" i="0" dirty="0">
                <a:effectLst/>
                <a:latin typeface="YS Text"/>
              </a:rPr>
              <a:t> </a:t>
            </a:r>
            <a:endParaRPr lang="ru-RU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23DCD-5F7D-4FC5-BAF8-628BCE9A5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59" y="3003113"/>
            <a:ext cx="5658640" cy="170521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DA7E44-2953-4AC2-B492-8480BD0A3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859" y="1777999"/>
            <a:ext cx="5963482" cy="51442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63F1F-58A1-4B2A-89DC-A3C5CD268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859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2D6DBD-2F04-412B-8D6D-91BD3FE40D9F}"/>
              </a:ext>
            </a:extLst>
          </p:cNvPr>
          <p:cNvSpPr txBox="1"/>
          <p:nvPr/>
        </p:nvSpPr>
        <p:spPr>
          <a:xfrm>
            <a:off x="2671481" y="510988"/>
            <a:ext cx="76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Arial Black" panose="020B0A04020102020204" pitchFamily="34" charset="0"/>
              </a:rPr>
              <a:t>Возможности для улучшения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86FA12-F295-491E-8416-16EAAA337F1D}"/>
              </a:ext>
            </a:extLst>
          </p:cNvPr>
          <p:cNvSpPr txBox="1"/>
          <p:nvPr/>
        </p:nvSpPr>
        <p:spPr>
          <a:xfrm>
            <a:off x="376516" y="2008094"/>
            <a:ext cx="6349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Новый режим поля с препятствиями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C5AE9-04F5-4368-B286-B3B37FF061B6}"/>
              </a:ext>
            </a:extLst>
          </p:cNvPr>
          <p:cNvSpPr txBox="1"/>
          <p:nvPr/>
        </p:nvSpPr>
        <p:spPr>
          <a:xfrm>
            <a:off x="376516" y="2905780"/>
            <a:ext cx="6036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Показ следующей фигуры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B8C794-134E-4CED-9210-101F170592BB}"/>
              </a:ext>
            </a:extLst>
          </p:cNvPr>
          <p:cNvSpPr txBox="1"/>
          <p:nvPr/>
        </p:nvSpPr>
        <p:spPr>
          <a:xfrm>
            <a:off x="376516" y="3803466"/>
            <a:ext cx="69941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Возможность выбора/удаления фигуры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EFEF2E-C75B-4864-B847-5D5AEBAC1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653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8FE06EC-46A8-45C2-A099-B6C53FA92330}"/>
              </a:ext>
            </a:extLst>
          </p:cNvPr>
          <p:cNvSpPr txBox="1"/>
          <p:nvPr/>
        </p:nvSpPr>
        <p:spPr>
          <a:xfrm>
            <a:off x="3077881" y="643068"/>
            <a:ext cx="76648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>
                <a:latin typeface="Arial Black" panose="020B0A04020102020204" pitchFamily="34" charset="0"/>
              </a:rPr>
              <a:t>ДОКУМЕНТАЦИЯ К ИГРЕ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F283F08-66EA-4AAC-B6DC-53A439A0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5849E-5F80-4C7B-BCEF-68E89AE4269F}" type="slidenum">
              <a:rPr lang="ru-RU" smtClean="0"/>
              <a:t>12</a:t>
            </a:fld>
            <a:endParaRPr lang="ru-RU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1EF0A0-0C34-41A5-B158-0A340C314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5080" y="1889760"/>
            <a:ext cx="4018280" cy="401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64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595959"/>
      </a:dk1>
      <a:lt1>
        <a:srgbClr val="BFBFBF"/>
      </a:lt1>
      <a:dk2>
        <a:srgbClr val="000000"/>
      </a:dk2>
      <a:lt2>
        <a:srgbClr val="D0D0D0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596</TotalTime>
  <Words>216</Words>
  <Application>Microsoft Office PowerPoint</Application>
  <PresentationFormat>Widescreen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YS Text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Олеся Салюкина</dc:creator>
  <cp:lastModifiedBy>Олеся Салюкина</cp:lastModifiedBy>
  <cp:revision>14</cp:revision>
  <dcterms:created xsi:type="dcterms:W3CDTF">2025-12-21T10:46:34Z</dcterms:created>
  <dcterms:modified xsi:type="dcterms:W3CDTF">2025-12-21T20:43:11Z</dcterms:modified>
</cp:coreProperties>
</file>